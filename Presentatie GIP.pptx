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5" r:id="rId7"/>
    <p:sldId id="268" r:id="rId8"/>
    <p:sldId id="267" r:id="rId9"/>
    <p:sldId id="261" r:id="rId10"/>
    <p:sldId id="264" r:id="rId1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9E1E9-EF92-4443-85F9-A572A7B4BA35}" v="361" dt="2022-06-23T18:50:05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1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vito716-my.sharepoint.com/personal/yanneck_braspenninckx_vitohoogstraten_be/Documents/GIP/kalibratiecurves%20validatie%20S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vito716-my.sharepoint.com/personal/yanneck_braspenninckx_vitohoogstraten_be/Documents/GIP/kalibratiecurves%20validatie%20SG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Kalibratiecurve</a:t>
            </a:r>
            <a:r>
              <a:rPr lang="nl-NL" baseline="0"/>
              <a:t> aanmaakblanco (KMnO</a:t>
            </a:r>
            <a:r>
              <a:rPr lang="nl-NL" baseline="-25000"/>
              <a:t>4</a:t>
            </a:r>
            <a:r>
              <a:rPr lang="nl-NL" baseline="0"/>
              <a:t>-matrix)</a:t>
            </a:r>
            <a:endParaRPr lang="nl-NL"/>
          </a:p>
        </c:rich>
      </c:tx>
      <c:layout>
        <c:manualLayout>
          <c:xMode val="edge"/>
          <c:yMode val="edge"/>
          <c:x val="0.15482315112540193"/>
          <c:y val="2.46153846153846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62832021058664478"/>
                  <c:y val="0.81159011513538337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12391x + 1330,5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</c:trendlineLbl>
          </c:trendline>
          <c:trendline>
            <c:spPr>
              <a:ln w="19050" cap="rnd">
                <a:solidFill>
                  <a:schemeClr val="tx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waarden!$D$2:$D$8</c:f>
              <c:numCache>
                <c:formatCode>0.0</c:formatCode>
                <c:ptCount val="7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5</c:v>
                </c:pt>
              </c:numCache>
            </c:numRef>
          </c:xVal>
          <c:yVal>
            <c:numRef>
              <c:f>waarden!$E$2:$E$8</c:f>
              <c:numCache>
                <c:formatCode>General</c:formatCode>
                <c:ptCount val="7"/>
                <c:pt idx="0">
                  <c:v>153</c:v>
                </c:pt>
                <c:pt idx="1">
                  <c:v>2685</c:v>
                </c:pt>
                <c:pt idx="2">
                  <c:v>4029</c:v>
                </c:pt>
                <c:pt idx="3">
                  <c:v>7519</c:v>
                </c:pt>
                <c:pt idx="4">
                  <c:v>14443</c:v>
                </c:pt>
                <c:pt idx="5">
                  <c:v>26584</c:v>
                </c:pt>
                <c:pt idx="6">
                  <c:v>62944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5784-4C81-9DEF-DC23DBB63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8839792"/>
        <c:axId val="588842744"/>
      </c:scatterChart>
      <c:valAx>
        <c:axId val="5888397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Theoretische concentratie Hg</a:t>
                </a:r>
                <a:r>
                  <a:rPr lang="nl-NL" baseline="0"/>
                  <a:t> (µg/l)</a:t>
                </a:r>
                <a:endParaRPr lang="nl-NL"/>
              </a:p>
            </c:rich>
          </c:tx>
          <c:layout>
            <c:manualLayout>
              <c:xMode val="edge"/>
              <c:yMode val="edge"/>
              <c:x val="0.79138141744172985"/>
              <c:y val="0.955631590497360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88842744"/>
        <c:crosses val="autoZero"/>
        <c:crossBetween val="midCat"/>
      </c:valAx>
      <c:valAx>
        <c:axId val="588842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µAbs</a:t>
                </a:r>
              </a:p>
            </c:rich>
          </c:tx>
          <c:layout>
            <c:manualLayout>
              <c:xMode val="edge"/>
              <c:yMode val="edge"/>
              <c:x val="9.5664462868791083E-3"/>
              <c:y val="7.131543378249159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888397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92929"/>
    </a:solidFill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Kalibratiecurve</a:t>
            </a:r>
            <a:r>
              <a:rPr lang="nl-NL" baseline="0"/>
              <a:t> standaardoplossingen (HCl-matrix)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62621440870376588"/>
                  <c:y val="0.8183624164789041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12509x + 1046,9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</c:trendlineLbl>
          </c:trendline>
          <c:xVal>
            <c:numRef>
              <c:f>waarden!$A$2:$A$8</c:f>
              <c:numCache>
                <c:formatCode>0.0</c:formatCode>
                <c:ptCount val="7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5</c:v>
                </c:pt>
              </c:numCache>
            </c:numRef>
          </c:xVal>
          <c:yVal>
            <c:numRef>
              <c:f>waarden!$B$2:$B$8</c:f>
              <c:numCache>
                <c:formatCode>General</c:formatCode>
                <c:ptCount val="7"/>
                <c:pt idx="0">
                  <c:v>301</c:v>
                </c:pt>
                <c:pt idx="1">
                  <c:v>2532</c:v>
                </c:pt>
                <c:pt idx="2">
                  <c:v>3664</c:v>
                </c:pt>
                <c:pt idx="3">
                  <c:v>7482</c:v>
                </c:pt>
                <c:pt idx="4">
                  <c:v>13561</c:v>
                </c:pt>
                <c:pt idx="5">
                  <c:v>26465</c:v>
                </c:pt>
                <c:pt idx="6">
                  <c:v>63406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AF3-45C6-A48F-BD15A61F9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3644184"/>
        <c:axId val="423642216"/>
      </c:scatterChart>
      <c:valAx>
        <c:axId val="423644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Concentratie</a:t>
                </a:r>
                <a:r>
                  <a:rPr lang="nl-NL" baseline="0"/>
                  <a:t> Hg (µg/l)</a:t>
                </a:r>
                <a:endParaRPr lang="nl-NL"/>
              </a:p>
            </c:rich>
          </c:tx>
          <c:layout>
            <c:manualLayout>
              <c:xMode val="edge"/>
              <c:yMode val="edge"/>
              <c:x val="0.8460912673410671"/>
              <c:y val="0.957723942637259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23642216"/>
        <c:crosses val="autoZero"/>
        <c:crossBetween val="midCat"/>
      </c:valAx>
      <c:valAx>
        <c:axId val="423642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µAbs</a:t>
                </a:r>
              </a:p>
            </c:rich>
          </c:tx>
          <c:layout>
            <c:manualLayout>
              <c:xMode val="edge"/>
              <c:yMode val="edge"/>
              <c:x val="1.2878330621764128E-2"/>
              <c:y val="7.370170373479915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23644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92929"/>
    </a:solidFill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Kalibratiecurve spoelblanco (HNO</a:t>
            </a:r>
            <a:r>
              <a:rPr lang="nl-NL" baseline="-25000"/>
              <a:t>3</a:t>
            </a:r>
            <a:r>
              <a:rPr lang="nl-NL" baseline="0"/>
              <a:t>-matrix)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63488694644953025"/>
                  <c:y val="0.8148001457726907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12581x + 1182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</c:trendlineLbl>
          </c:trendline>
          <c:xVal>
            <c:numRef>
              <c:f>waarden!$G$2:$G$8</c:f>
              <c:numCache>
                <c:formatCode>0.0</c:formatCode>
                <c:ptCount val="7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5</c:v>
                </c:pt>
              </c:numCache>
            </c:numRef>
          </c:xVal>
          <c:yVal>
            <c:numRef>
              <c:f>waarden!$H$2:$H$8</c:f>
              <c:numCache>
                <c:formatCode>General</c:formatCode>
                <c:ptCount val="7"/>
                <c:pt idx="0">
                  <c:v>12</c:v>
                </c:pt>
                <c:pt idx="1">
                  <c:v>2695</c:v>
                </c:pt>
                <c:pt idx="2">
                  <c:v>3968</c:v>
                </c:pt>
                <c:pt idx="3">
                  <c:v>7579</c:v>
                </c:pt>
                <c:pt idx="4">
                  <c:v>14138</c:v>
                </c:pt>
                <c:pt idx="5">
                  <c:v>26787</c:v>
                </c:pt>
                <c:pt idx="6">
                  <c:v>63809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8EE-4FA3-A2D4-8D0F1478A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5113856"/>
        <c:axId val="575113200"/>
      </c:scatterChart>
      <c:valAx>
        <c:axId val="575113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Theoretische</a:t>
                </a:r>
                <a:r>
                  <a:rPr lang="nl-NL" baseline="0"/>
                  <a:t> concentratie Hg (µg/l)</a:t>
                </a:r>
                <a:endParaRPr lang="nl-NL"/>
              </a:p>
            </c:rich>
          </c:tx>
          <c:layout>
            <c:manualLayout>
              <c:xMode val="edge"/>
              <c:yMode val="edge"/>
              <c:x val="0.79492778193925973"/>
              <c:y val="0.951912640508860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75113200"/>
        <c:crosses val="autoZero"/>
        <c:crossBetween val="midCat"/>
      </c:valAx>
      <c:valAx>
        <c:axId val="575113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µAbs</a:t>
                </a:r>
              </a:p>
            </c:rich>
          </c:tx>
          <c:layout>
            <c:manualLayout>
              <c:xMode val="edge"/>
              <c:yMode val="edge"/>
              <c:x val="7.2782470310388649E-3"/>
              <c:y val="7.584018647305874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75113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92929"/>
    </a:solidFill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Kalibratiecurve</a:t>
            </a:r>
            <a:r>
              <a:rPr lang="nl-NL" baseline="0"/>
              <a:t> standaardoplossingen (HCl-matrix)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62621440870376588"/>
                  <c:y val="0.8183624164789041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12509x + 1046,9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ighlight>
                        <a:srgbClr val="FFFF00"/>
                      </a:highlight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</c:trendlineLbl>
          </c:trendline>
          <c:xVal>
            <c:numRef>
              <c:f>waarden!$A$2:$A$8</c:f>
              <c:numCache>
                <c:formatCode>0.0</c:formatCode>
                <c:ptCount val="7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  <c:pt idx="6">
                  <c:v>5</c:v>
                </c:pt>
              </c:numCache>
            </c:numRef>
          </c:xVal>
          <c:yVal>
            <c:numRef>
              <c:f>waarden!$B$2:$B$8</c:f>
              <c:numCache>
                <c:formatCode>General</c:formatCode>
                <c:ptCount val="7"/>
                <c:pt idx="0">
                  <c:v>301</c:v>
                </c:pt>
                <c:pt idx="1">
                  <c:v>2532</c:v>
                </c:pt>
                <c:pt idx="2">
                  <c:v>3664</c:v>
                </c:pt>
                <c:pt idx="3">
                  <c:v>7482</c:v>
                </c:pt>
                <c:pt idx="4">
                  <c:v>13561</c:v>
                </c:pt>
                <c:pt idx="5">
                  <c:v>26465</c:v>
                </c:pt>
                <c:pt idx="6">
                  <c:v>63406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6C-4A18-8CDA-29626CE34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3644184"/>
        <c:axId val="423642216"/>
      </c:scatterChart>
      <c:valAx>
        <c:axId val="423644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Concentratie</a:t>
                </a:r>
                <a:r>
                  <a:rPr lang="nl-NL" baseline="0"/>
                  <a:t> Hg (µg/l)</a:t>
                </a:r>
                <a:endParaRPr lang="nl-NL"/>
              </a:p>
            </c:rich>
          </c:tx>
          <c:layout>
            <c:manualLayout>
              <c:xMode val="edge"/>
              <c:yMode val="edge"/>
              <c:x val="0.8460912673410671"/>
              <c:y val="0.957723942637259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23642216"/>
        <c:crosses val="autoZero"/>
        <c:crossBetween val="midCat"/>
      </c:valAx>
      <c:valAx>
        <c:axId val="423642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µAbs</a:t>
                </a:r>
              </a:p>
            </c:rich>
          </c:tx>
          <c:layout>
            <c:manualLayout>
              <c:xMode val="edge"/>
              <c:yMode val="edge"/>
              <c:x val="1.2878330621764128E-2"/>
              <c:y val="7.370170373479915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23644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92929"/>
    </a:solidFill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06809-C997-4970-B6B3-A5A293CFE2F9}" type="datetimeFigureOut">
              <a:rPr lang="nl-NL" smtClean="0"/>
              <a:t>23-6-2022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E1937-4BE2-41A5-A4FA-984176F244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930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3026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5725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7773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2998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3845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0763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4876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128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590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1937-4BE2-41A5-A4FA-984176F244C1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9366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170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180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852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496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697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607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795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957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2949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921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832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481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8332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7797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0934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971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37C8E-FD32-4DF8-B81C-BE6019916640}" type="datetimeFigureOut">
              <a:rPr lang="nl-BE" smtClean="0"/>
              <a:t>23/06/2022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08A8AD1-D73D-41AD-B567-323D726CF4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6876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99BF2-4890-45AD-9ACB-9AE8E0664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Instrumentele Analyse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0A682BC-716F-4AEA-89F5-CE80FC661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>
                <a:latin typeface="Verdana Pro" panose="020B0604030504040204" pitchFamily="34" charset="0"/>
              </a:rPr>
              <a:t>Yanneck Braspenninckx 6TCH</a:t>
            </a:r>
          </a:p>
        </p:txBody>
      </p:sp>
    </p:spTree>
    <p:extLst>
      <p:ext uri="{BB962C8B-B14F-4D97-AF65-F5344CB8AC3E}">
        <p14:creationId xmlns:p14="http://schemas.microsoft.com/office/powerpoint/2010/main" val="333866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604020202020204" pitchFamily="34" charset="0"/>
                <a:ea typeface="Verdana" panose="020B0604030504040204" pitchFamily="34" charset="0"/>
              </a:rPr>
              <a:t>Inhoud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C4E050-EB7C-4F96-A957-01473DDE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SGS Belgium NV</a:t>
            </a:r>
          </a:p>
          <a:p>
            <a:pPr marL="514350" indent="-514350">
              <a:buFont typeface="+mj-lt"/>
              <a:buAutoNum type="arabicPeriod"/>
            </a:pPr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Stage</a:t>
            </a:r>
          </a:p>
          <a:p>
            <a:pPr marL="514350" indent="-514350">
              <a:buFont typeface="+mj-lt"/>
              <a:buAutoNum type="arabicPeriod"/>
            </a:pPr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Resultaten</a:t>
            </a:r>
          </a:p>
          <a:p>
            <a:pPr marL="514350" indent="-514350">
              <a:buFont typeface="+mj-lt"/>
              <a:buAutoNum type="arabicPeriod"/>
            </a:pPr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Algemeen Besluit</a:t>
            </a:r>
          </a:p>
        </p:txBody>
      </p:sp>
    </p:spTree>
    <p:extLst>
      <p:ext uri="{BB962C8B-B14F-4D97-AF65-F5344CB8AC3E}">
        <p14:creationId xmlns:p14="http://schemas.microsoft.com/office/powerpoint/2010/main" val="344007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SGS Belgium NV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C4E050-EB7C-4F96-A957-01473DDE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97691"/>
          </a:xfrm>
        </p:spPr>
        <p:txBody>
          <a:bodyPr/>
          <a:lstStyle/>
          <a:p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Wereldniveau</a:t>
            </a:r>
          </a:p>
          <a:p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Gespecialiseerd in</a:t>
            </a:r>
          </a:p>
          <a:p>
            <a:pPr lvl="1"/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Testen en keuren van goederen</a:t>
            </a:r>
          </a:p>
          <a:p>
            <a:pPr lvl="1"/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Certificeren van goederen en bedrijven</a:t>
            </a:r>
          </a:p>
          <a:p>
            <a:pPr marL="457200" lvl="1" indent="0">
              <a:buNone/>
            </a:pPr>
            <a:endParaRPr lang="nl-BE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When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you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need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to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be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nl-B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sure</a:t>
            </a:r>
            <a:r>
              <a:rPr lang="nl-BE" sz="2800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</a:p>
          <a:p>
            <a:endParaRPr lang="nl-B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0CACB39-C713-48C8-A1AA-C665D118C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93" t="22593" r="23587" b="23587"/>
          <a:stretch/>
        </p:blipFill>
        <p:spPr>
          <a:xfrm>
            <a:off x="5276560" y="561249"/>
            <a:ext cx="4141210" cy="2174135"/>
          </a:xfrm>
          <a:prstGeom prst="roundRect">
            <a:avLst>
              <a:gd name="adj" fmla="val 3165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1994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Stage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C4E050-EB7C-4F96-A957-01473DDE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Validatieproject</a:t>
            </a:r>
          </a:p>
          <a:p>
            <a:pPr lvl="1"/>
            <a:r>
              <a:rPr lang="nl-BE" sz="2000" dirty="0">
                <a:latin typeface="Verdana" panose="020B0604030504040204" pitchFamily="34" charset="0"/>
                <a:ea typeface="Verdana" panose="020B0604030504040204" pitchFamily="34" charset="0"/>
              </a:rPr>
              <a:t>Levert gegeven werkwijze goede resultaten?</a:t>
            </a:r>
          </a:p>
          <a:p>
            <a:pPr lvl="1"/>
            <a:r>
              <a:rPr lang="nl-BE" sz="2000" dirty="0">
                <a:latin typeface="Verdana" panose="020B0604030504040204" pitchFamily="34" charset="0"/>
                <a:ea typeface="Verdana" panose="020B0604030504040204" pitchFamily="34" charset="0"/>
              </a:rPr>
              <a:t>Concentratie kwik in kaliumpermanganaat matrix</a:t>
            </a:r>
          </a:p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Praktisch</a:t>
            </a:r>
          </a:p>
          <a:p>
            <a:pPr lvl="1"/>
            <a:r>
              <a:rPr lang="nl-BE" sz="2000" dirty="0">
                <a:latin typeface="Verdana" panose="020B0604030504040204" pitchFamily="34" charset="0"/>
                <a:ea typeface="Verdana" panose="020B0604030504040204" pitchFamily="34" charset="0"/>
              </a:rPr>
              <a:t>Salpeterzuur</a:t>
            </a:r>
          </a:p>
          <a:p>
            <a:pPr lvl="1"/>
            <a:r>
              <a:rPr lang="nl-BE" sz="2000" dirty="0">
                <a:latin typeface="Verdana" panose="020B0604030504040204" pitchFamily="34" charset="0"/>
                <a:ea typeface="Verdana" panose="020B0604030504040204" pitchFamily="34" charset="0"/>
              </a:rPr>
              <a:t>Kaliumpermanganaat</a:t>
            </a:r>
          </a:p>
          <a:p>
            <a:pPr lvl="1"/>
            <a:r>
              <a:rPr lang="nl-BE" sz="2000" dirty="0">
                <a:latin typeface="Verdana" panose="020B0604030504040204" pitchFamily="34" charset="0"/>
                <a:ea typeface="Verdana" panose="020B0604030504040204" pitchFamily="34" charset="0"/>
              </a:rPr>
              <a:t>Standaardoplossing Kwik</a:t>
            </a:r>
            <a:endParaRPr lang="nl-B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6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123" y="609600"/>
            <a:ext cx="4924878" cy="1320800"/>
          </a:xfrm>
        </p:spPr>
        <p:txBody>
          <a:bodyPr anchor="ctr">
            <a:normAutofit/>
          </a:bodyPr>
          <a:lstStyle/>
          <a:p>
            <a:r>
              <a:rPr lang="nl-BE" dirty="0">
                <a:latin typeface="Verdana Pro Light" panose="020B0304030504040204" pitchFamily="34" charset="0"/>
              </a:rPr>
              <a:t>CV-AAS</a:t>
            </a:r>
          </a:p>
        </p:txBody>
      </p:sp>
      <p:pic>
        <p:nvPicPr>
          <p:cNvPr id="2050" name="Picture 2" descr="CETAC M-7600 Mercury Analyzer Operator's Manual">
            <a:extLst>
              <a:ext uri="{FF2B5EF4-FFF2-40B4-BE49-F238E27FC236}">
                <a16:creationId xmlns:a16="http://schemas.microsoft.com/office/drawing/2014/main" id="{F0A64EB1-08C3-4009-A9FC-74BA0B078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684" y="2438291"/>
            <a:ext cx="3879846" cy="2771318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C4E050-EB7C-4F96-A957-01473DDE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123" y="2160590"/>
            <a:ext cx="4921876" cy="3739698"/>
          </a:xfrm>
        </p:spPr>
        <p:txBody>
          <a:bodyPr>
            <a:normAutofit lnSpcReduction="10000"/>
          </a:bodyPr>
          <a:lstStyle/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Atomaire Absorptiespectrometrie</a:t>
            </a:r>
          </a:p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Redoxreactie </a:t>
            </a:r>
            <a:r>
              <a:rPr lang="nl-BE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tinchloride</a:t>
            </a:r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 met ionisch kwik</a:t>
            </a:r>
          </a:p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Kwikdampen absorberen </a:t>
            </a:r>
            <a:r>
              <a:rPr lang="nl-BE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UV-straling</a:t>
            </a:r>
            <a:endParaRPr lang="nl-BE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Golflengte van 253,7 nm</a:t>
            </a:r>
          </a:p>
          <a:p>
            <a:r>
              <a:rPr lang="nl-BE" sz="2400" dirty="0">
                <a:latin typeface="Verdana" panose="020B0604030504040204" pitchFamily="34" charset="0"/>
                <a:ea typeface="Verdana" panose="020B0604030504040204" pitchFamily="34" charset="0"/>
              </a:rPr>
              <a:t>Absorptie proportioneel met concentratie Kwik</a:t>
            </a:r>
          </a:p>
          <a:p>
            <a:endParaRPr lang="nl-B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15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resultaten</a:t>
            </a:r>
          </a:p>
        </p:txBody>
      </p:sp>
      <p:graphicFrame>
        <p:nvGraphicFramePr>
          <p:cNvPr id="5" name="Grafiek 4">
            <a:extLst>
              <a:ext uri="{FF2B5EF4-FFF2-40B4-BE49-F238E27FC236}">
                <a16:creationId xmlns:a16="http://schemas.microsoft.com/office/drawing/2014/main" id="{9052B5F7-53B7-4CF5-980C-B2C64A8AA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436196"/>
              </p:ext>
            </p:extLst>
          </p:nvPr>
        </p:nvGraphicFramePr>
        <p:xfrm>
          <a:off x="371184" y="1931151"/>
          <a:ext cx="5223636" cy="3411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E07C1762-2738-4320-97BC-336C801EC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543216"/>
              </p:ext>
            </p:extLst>
          </p:nvPr>
        </p:nvGraphicFramePr>
        <p:xfrm>
          <a:off x="6096000" y="1931152"/>
          <a:ext cx="5223636" cy="3411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829C0BD1-1BDE-4FD0-8F97-9E5B15AD2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5891"/>
            <a:ext cx="8596668" cy="3880773"/>
          </a:xfrm>
        </p:spPr>
        <p:txBody>
          <a:bodyPr/>
          <a:lstStyle/>
          <a:p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8DE5E8A3-5C39-47C5-ADA1-11C454C35829}"/>
                  </a:ext>
                </a:extLst>
              </p:cNvPr>
              <p:cNvSpPr txBox="1"/>
              <p:nvPr/>
            </p:nvSpPr>
            <p:spPr>
              <a:xfrm>
                <a:off x="3874283" y="5533717"/>
                <a:ext cx="4381319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NL" i="1"/>
                          </m:ctrlPr>
                        </m:dPr>
                        <m:e>
                          <m:f>
                            <m:fPr>
                              <m:ctrlPr>
                                <a:rPr lang="nl-NL" i="1"/>
                              </m:ctrlPr>
                            </m:fPr>
                            <m:num>
                              <m:r>
                                <a:rPr lang="nl-BE" i="1"/>
                                <m:t>12391</m:t>
                              </m:r>
                            </m:num>
                            <m:den>
                              <m:r>
                                <a:rPr lang="nl-BE" i="1"/>
                                <m:t>12509</m:t>
                              </m:r>
                            </m:den>
                          </m:f>
                          <m:r>
                            <a:rPr lang="nl-BE" i="1"/>
                            <m:t>−1</m:t>
                          </m:r>
                        </m:e>
                      </m:d>
                      <m:r>
                        <a:rPr lang="nl-BE" i="1"/>
                        <m:t>∗100%=−0.94%</m:t>
                      </m:r>
                    </m:oMath>
                  </m:oMathPara>
                </a14:m>
                <a:endParaRPr lang="nl-NL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8DE5E8A3-5C39-47C5-ADA1-11C454C35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283" y="5533717"/>
                <a:ext cx="4381319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11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resultaten</a:t>
            </a:r>
          </a:p>
        </p:txBody>
      </p:sp>
      <p:graphicFrame>
        <p:nvGraphicFramePr>
          <p:cNvPr id="7" name="Tijdelijke aanduiding voor inhoud 5">
            <a:extLst>
              <a:ext uri="{FF2B5EF4-FFF2-40B4-BE49-F238E27FC236}">
                <a16:creationId xmlns:a16="http://schemas.microsoft.com/office/drawing/2014/main" id="{D8B4CBA6-141E-4E3B-B854-C581701E92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581316"/>
              </p:ext>
            </p:extLst>
          </p:nvPr>
        </p:nvGraphicFramePr>
        <p:xfrm>
          <a:off x="346581" y="1930399"/>
          <a:ext cx="5225355" cy="3412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6C273E-D616-40D1-9EE8-5C03B037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A390F877-CF56-40AD-88B8-05E1405E1B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5673107"/>
              </p:ext>
            </p:extLst>
          </p:nvPr>
        </p:nvGraphicFramePr>
        <p:xfrm>
          <a:off x="6096000" y="1931152"/>
          <a:ext cx="5223636" cy="3411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842E1300-643C-4BBC-B2D0-C340AD598F66}"/>
                  </a:ext>
                </a:extLst>
              </p:cNvPr>
              <p:cNvSpPr txBox="1"/>
              <p:nvPr/>
            </p:nvSpPr>
            <p:spPr>
              <a:xfrm>
                <a:off x="3874283" y="5533717"/>
                <a:ext cx="4381319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NL" i="1"/>
                          </m:ctrlPr>
                        </m:dPr>
                        <m:e>
                          <m:f>
                            <m:fPr>
                              <m:ctrlPr>
                                <a:rPr lang="nl-NL" i="1"/>
                              </m:ctrlPr>
                            </m:fPr>
                            <m:num>
                              <m:r>
                                <a:rPr lang="nl-BE" i="1"/>
                                <m:t>12581</m:t>
                              </m:r>
                            </m:num>
                            <m:den>
                              <m:r>
                                <a:rPr lang="nl-BE" i="1"/>
                                <m:t>12509</m:t>
                              </m:r>
                            </m:den>
                          </m:f>
                          <m:r>
                            <a:rPr lang="nl-BE" i="1"/>
                            <m:t>−1</m:t>
                          </m:r>
                        </m:e>
                      </m:d>
                      <m:r>
                        <a:rPr lang="nl-BE" i="1"/>
                        <m:t>∗100%=0.57%</m:t>
                      </m:r>
                    </m:oMath>
                  </m:oMathPara>
                </a14:m>
                <a:endParaRPr lang="nl-NL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842E1300-643C-4BBC-B2D0-C340AD598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283" y="5533717"/>
                <a:ext cx="4381319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49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nl-BE">
                <a:latin typeface="Verdana Pro Light" panose="020B0304030504040204" pitchFamily="34" charset="0"/>
              </a:rPr>
              <a:t>resultaten</a:t>
            </a:r>
            <a:endParaRPr lang="nl-BE" dirty="0">
              <a:latin typeface="Verdana Pro Light" panose="020B0304030504040204" pitchFamily="34" charset="0"/>
            </a:endParaRPr>
          </a:p>
        </p:txBody>
      </p:sp>
      <p:sp>
        <p:nvSpPr>
          <p:cNvPr id="32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34" name="Tijdelijke aanduiding voor inhoud 3">
            <a:extLst>
              <a:ext uri="{FF2B5EF4-FFF2-40B4-BE49-F238E27FC236}">
                <a16:creationId xmlns:a16="http://schemas.microsoft.com/office/drawing/2014/main" id="{2BC9D34A-F007-4325-9D4B-8B2255D41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793028"/>
              </p:ext>
            </p:extLst>
          </p:nvPr>
        </p:nvGraphicFramePr>
        <p:xfrm>
          <a:off x="1286933" y="2530624"/>
          <a:ext cx="9618136" cy="2929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8795">
                  <a:extLst>
                    <a:ext uri="{9D8B030D-6E8A-4147-A177-3AD203B41FA5}">
                      <a16:colId xmlns:a16="http://schemas.microsoft.com/office/drawing/2014/main" val="3421603039"/>
                    </a:ext>
                  </a:extLst>
                </a:gridCol>
                <a:gridCol w="1832640">
                  <a:extLst>
                    <a:ext uri="{9D8B030D-6E8A-4147-A177-3AD203B41FA5}">
                      <a16:colId xmlns:a16="http://schemas.microsoft.com/office/drawing/2014/main" val="2267474256"/>
                    </a:ext>
                  </a:extLst>
                </a:gridCol>
                <a:gridCol w="975965">
                  <a:extLst>
                    <a:ext uri="{9D8B030D-6E8A-4147-A177-3AD203B41FA5}">
                      <a16:colId xmlns:a16="http://schemas.microsoft.com/office/drawing/2014/main" val="1319808598"/>
                    </a:ext>
                  </a:extLst>
                </a:gridCol>
                <a:gridCol w="1157429">
                  <a:extLst>
                    <a:ext uri="{9D8B030D-6E8A-4147-A177-3AD203B41FA5}">
                      <a16:colId xmlns:a16="http://schemas.microsoft.com/office/drawing/2014/main" val="3273242295"/>
                    </a:ext>
                  </a:extLst>
                </a:gridCol>
                <a:gridCol w="754413">
                  <a:extLst>
                    <a:ext uri="{9D8B030D-6E8A-4147-A177-3AD203B41FA5}">
                      <a16:colId xmlns:a16="http://schemas.microsoft.com/office/drawing/2014/main" val="2721484768"/>
                    </a:ext>
                  </a:extLst>
                </a:gridCol>
                <a:gridCol w="1026607">
                  <a:extLst>
                    <a:ext uri="{9D8B030D-6E8A-4147-A177-3AD203B41FA5}">
                      <a16:colId xmlns:a16="http://schemas.microsoft.com/office/drawing/2014/main" val="3293087410"/>
                    </a:ext>
                  </a:extLst>
                </a:gridCol>
                <a:gridCol w="954865">
                  <a:extLst>
                    <a:ext uri="{9D8B030D-6E8A-4147-A177-3AD203B41FA5}">
                      <a16:colId xmlns:a16="http://schemas.microsoft.com/office/drawing/2014/main" val="1243373025"/>
                    </a:ext>
                  </a:extLst>
                </a:gridCol>
                <a:gridCol w="1387422">
                  <a:extLst>
                    <a:ext uri="{9D8B030D-6E8A-4147-A177-3AD203B41FA5}">
                      <a16:colId xmlns:a16="http://schemas.microsoft.com/office/drawing/2014/main" val="3334580975"/>
                    </a:ext>
                  </a:extLst>
                </a:gridCol>
              </a:tblGrid>
              <a:tr h="937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nl-NL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Matrix - concentratie spike (</a:t>
                      </a: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µg/L</a:t>
                      </a:r>
                      <a:r>
                        <a:rPr lang="nl-NL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gemiddelde concentratie Hg (µg/L)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Stddev</a:t>
                      </a: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σ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Afwijking (%)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RSD (%)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MU (%)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LOD (µg/L)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LOQ (µg/L)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ctr"/>
                </a:tc>
                <a:extLst>
                  <a:ext uri="{0D108BD9-81ED-4DB2-BD59-A6C34878D82A}">
                    <a16:rowId xmlns:a16="http://schemas.microsoft.com/office/drawing/2014/main" val="2475163662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KMnO4 - 0,02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0,0196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0,002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-1,9%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0,0054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0,0108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2044389106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KMnO4 - 0,2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0,2043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0,009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2,1%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2672671694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KMnO4 - 2,0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2,0308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0,066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1,5%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277354134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HNO3 - 0,02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0,0218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0,003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8,8%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0,0083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0,0166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2712013324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HNO3 - 0,2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0,2095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0,007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4,7%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959890013"/>
                  </a:ext>
                </a:extLst>
              </a:tr>
              <a:tr h="3319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HNO3 - 2,0</a:t>
                      </a: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2,0758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0,086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3,8%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BE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11%</a:t>
                      </a: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nl-NL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985" marR="69985" marT="0" marB="0" anchor="b"/>
                </a:tc>
                <a:extLst>
                  <a:ext uri="{0D108BD9-81ED-4DB2-BD59-A6C34878D82A}">
                    <a16:rowId xmlns:a16="http://schemas.microsoft.com/office/drawing/2014/main" val="238826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41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AFBE4-EE72-4052-A43E-7D536253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Verdana Pro Light" panose="020B0304030504040204" pitchFamily="34" charset="0"/>
              </a:rPr>
              <a:t>Algemeen besluit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C4E050-EB7C-4F96-A957-01473DDE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2800" dirty="0"/>
              <a:t>Mogelijk om analyses te doen</a:t>
            </a:r>
          </a:p>
          <a:p>
            <a:pPr lvl="1"/>
            <a:r>
              <a:rPr lang="nl-BE" sz="2400" dirty="0"/>
              <a:t>In kaliumpermanganaat-matrix</a:t>
            </a:r>
          </a:p>
          <a:p>
            <a:pPr lvl="1"/>
            <a:r>
              <a:rPr lang="nl-BE" sz="2400" dirty="0"/>
              <a:t>Concentraties groter dan 0,0108 µg/l (</a:t>
            </a:r>
            <a:r>
              <a:rPr lang="nl-BE" sz="2400" dirty="0" err="1"/>
              <a:t>LoQ</a:t>
            </a:r>
            <a:r>
              <a:rPr lang="nl-BE" sz="2400" dirty="0"/>
              <a:t>)</a:t>
            </a:r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2461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76E6A-7137-4FF6-BC02-57E5D867D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sz="5400" dirty="0">
                <a:latin typeface="Verdana Pro Light" panose="020B0304030504040204" pitchFamily="34" charset="0"/>
              </a:rPr>
              <a:t>Bedankt om te luisteren!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AEAE9F8-6B7A-43EB-8C8A-8F06F491E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57365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340</TotalTime>
  <Words>291</Words>
  <Application>Microsoft Office PowerPoint</Application>
  <PresentationFormat>Breedbeeld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Trebuchet MS</vt:lpstr>
      <vt:lpstr>Verdana</vt:lpstr>
      <vt:lpstr>Verdana Pro</vt:lpstr>
      <vt:lpstr>Verdana Pro Light</vt:lpstr>
      <vt:lpstr>Wingdings 3</vt:lpstr>
      <vt:lpstr>Facet</vt:lpstr>
      <vt:lpstr>Instrumentele Analyse</vt:lpstr>
      <vt:lpstr>Inhoud</vt:lpstr>
      <vt:lpstr>SGS Belgium NV</vt:lpstr>
      <vt:lpstr>Stage</vt:lpstr>
      <vt:lpstr>CV-AAS</vt:lpstr>
      <vt:lpstr>resultaten</vt:lpstr>
      <vt:lpstr>resultaten</vt:lpstr>
      <vt:lpstr>resultaten</vt:lpstr>
      <vt:lpstr>Algemeen besluit</vt:lpstr>
      <vt:lpstr>Bedankt om te luisteren!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Instrumentele Analyse</dc:title>
  <dc:creator>Yanneck Braspenninckx</dc:creator>
  <cp:lastModifiedBy>Yanneck Braspenninckx</cp:lastModifiedBy>
  <cp:revision>6</cp:revision>
  <dcterms:created xsi:type="dcterms:W3CDTF">2022-06-02T07:16:29Z</dcterms:created>
  <dcterms:modified xsi:type="dcterms:W3CDTF">2022-06-23T18:50:59Z</dcterms:modified>
</cp:coreProperties>
</file>